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SkaiScraper™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EA5E9"/>
                </a:solidFill>
              </a:defRPr>
            </a:pPr>
            <a:r>
              <a:t>The Restoration Operating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5C56A"/>
                </a:solidFill>
              </a:defRPr>
            </a:pPr>
            <a:r>
              <a:t>Seed Round · $750K · 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EA5E9"/>
                </a:solidFill>
              </a:defRPr>
            </a:pPr>
            <a:r>
              <a:t>I Built This From The Storm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9 years incarcerated. Not a setback—a masterclass in systems.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Released into Arizona storm season. Became a restoration contractor.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Watched homeowners lose everything. Saw contractors struggle.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Built the platform I needed to survive.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SkaiScraper isn't a side project. It's survival technology.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4B4"/>
                </a:solidFill>
              </a:defRPr>
            </a:pPr>
            <a:r>
              <a:t>2/20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EA5E9"/>
                </a:solidFill>
              </a:defRPr>
            </a:pPr>
            <a:r>
              <a:t>The Chaos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828800"/>
            <a:ext cx="2286000" cy="1097280"/>
          </a:xfrm>
          <a:prstGeom prst="rect">
            <a:avLst/>
          </a:prstGeom>
          <a:solidFill>
            <a:srgbClr val="14192D"/>
          </a:solidFill>
          <a:ln>
            <a:solidFill>
              <a:srgbClr val="32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1031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5C56A"/>
                </a:solidFill>
              </a:defRPr>
            </a:pPr>
            <a:r>
              <a:t>5M claims/year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4688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Storm damage claims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46120" y="1828800"/>
            <a:ext cx="2286000" cy="1097280"/>
          </a:xfrm>
          <a:prstGeom prst="rect">
            <a:avLst/>
          </a:prstGeom>
          <a:solidFill>
            <a:srgbClr val="14192D"/>
          </a:solidFill>
          <a:ln>
            <a:solidFill>
              <a:srgbClr val="32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46120" y="21031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5C56A"/>
                </a:solidFill>
              </a:defRPr>
            </a:pPr>
            <a:r>
              <a:t>200K+ contractors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24688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Operating blind</a:t>
            </a:r>
          </a:p>
        </p:txBody>
      </p:sp>
      <p:sp>
        <p:nvSpPr>
          <p:cNvPr id="9" name="Rectangle 8"/>
          <p:cNvSpPr/>
          <p:nvPr/>
        </p:nvSpPr>
        <p:spPr>
          <a:xfrm>
            <a:off x="5806440" y="1828800"/>
            <a:ext cx="2286000" cy="1097280"/>
          </a:xfrm>
          <a:prstGeom prst="rect">
            <a:avLst/>
          </a:prstGeom>
          <a:solidFill>
            <a:srgbClr val="14192D"/>
          </a:solidFill>
          <a:ln>
            <a:solidFill>
              <a:srgbClr val="32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21031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5C56A"/>
                </a:solidFill>
              </a:defRPr>
            </a:pPr>
            <a:r>
              <a:t>$600B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24688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Complete chaos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4B4"/>
                </a:solidFill>
              </a:defRPr>
            </a:pPr>
            <a:r>
              <a:t>3/20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EA5E9"/>
                </a:solidFill>
              </a:defRPr>
            </a:pPr>
            <a:r>
              <a:t>Category Creation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No one has built the Operating System for this industry.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Contractors use spreadsheets. Homeowners use Google.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Insurance companies use 1990s software.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We're creating the category.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4B4"/>
                </a:solidFill>
              </a:defRPr>
            </a:pPr>
            <a:r>
              <a:t>4/20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One Platform. Every Storm.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EA5E9"/>
                </a:solidFill>
              </a:defRPr>
            </a:pPr>
            <a:r>
              <a:t>Homeowners see everything · Contractors operate with precision · Insurance processes at digital speed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EA5E9"/>
                </a:solidFill>
              </a:defRPr>
            </a:pPr>
            <a:r>
              <a:t>SkaiScraper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Real-time documentation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AI-powered estimates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Digital contracts &amp; payments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Insurance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4B4"/>
                </a:solidFill>
              </a:defRPr>
            </a:pPr>
            <a:r>
              <a:t>6/20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EA5E9"/>
                </a:solidFill>
              </a:defRPr>
            </a:pPr>
            <a:r>
              <a:t>Built to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→ Next.js 14 + React Server Components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→ PostgreSQL + Prisma ORM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→ Vercel Edge Network (global CDN)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→ OpenAI GPT-4 for estimates &amp; diagnostics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→ Stripe Connect for payments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→ Real-time WebSocket sync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4B4"/>
                </a:solidFill>
              </a:defRPr>
            </a:pPr>
            <a:r>
              <a:t>7/20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EA5E9"/>
                </a:solidFill>
              </a:defRPr>
            </a:pPr>
            <a:r>
              <a:t>Homeowner: Peace of Mind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✓ See every photo, every update, every dollar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✓ Track progress in real-time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✓ Digital contracts—no paper chaos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✓ Direct communication with contractor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✓ Transparent pricing &amp;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4B4"/>
                </a:solidFill>
              </a:defRPr>
            </a:pPr>
            <a:r>
              <a:t>8/20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EA5E9"/>
                </a:solidFill>
              </a:defRPr>
            </a:pPr>
            <a:r>
              <a:t>Contractor: Operational Power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✓ Generate estimates in 60 seconds with AI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✓ Manage entire pipeline in one dashboard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✓ Get paid faster with Stripe integration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✓ Build trust with transparent documentation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✓ Scale operations without hiring overhead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4B4"/>
                </a:solidFill>
              </a:defRPr>
            </a:pPr>
            <a:r>
              <a:t>9/20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EA5E9"/>
                </a:solidFill>
              </a:defRPr>
            </a:pPr>
            <a:r>
              <a:t>Insurance: Instant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✓ Real-time damage documentation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✓ AI-powered fraud detection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✓ Faster claims processing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✓ Reduced adjuster overhead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✓ Better risk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4B4"/>
                </a:solidFill>
              </a:defRPr>
            </a:pPr>
            <a:r>
              <a:t>10/20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EA5E9"/>
                </a:solidFill>
              </a:defRPr>
            </a:pPr>
            <a:r>
              <a:t>Traction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828800"/>
            <a:ext cx="2286000" cy="1097280"/>
          </a:xfrm>
          <a:prstGeom prst="rect">
            <a:avLst/>
          </a:prstGeom>
          <a:solidFill>
            <a:srgbClr val="14192D"/>
          </a:solidFill>
          <a:ln>
            <a:solidFill>
              <a:srgbClr val="32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1031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5C56A"/>
                </a:solidFill>
              </a:defRPr>
            </a:pPr>
            <a:r>
              <a:t>15+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4688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Contractors validated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46120" y="1828800"/>
            <a:ext cx="2286000" cy="1097280"/>
          </a:xfrm>
          <a:prstGeom prst="rect">
            <a:avLst/>
          </a:prstGeom>
          <a:solidFill>
            <a:srgbClr val="14192D"/>
          </a:solidFill>
          <a:ln>
            <a:solidFill>
              <a:srgbClr val="32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46120" y="21031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5C56A"/>
                </a:solidFill>
              </a:defRPr>
            </a:pPr>
            <a:r>
              <a:t>$2.4M+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24688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Pipeline value</a:t>
            </a:r>
          </a:p>
        </p:txBody>
      </p:sp>
      <p:sp>
        <p:nvSpPr>
          <p:cNvPr id="9" name="Rectangle 8"/>
          <p:cNvSpPr/>
          <p:nvPr/>
        </p:nvSpPr>
        <p:spPr>
          <a:xfrm>
            <a:off x="5806440" y="1828800"/>
            <a:ext cx="2286000" cy="1097280"/>
          </a:xfrm>
          <a:prstGeom prst="rect">
            <a:avLst/>
          </a:prstGeom>
          <a:solidFill>
            <a:srgbClr val="14192D"/>
          </a:solidFill>
          <a:ln>
            <a:solidFill>
              <a:srgbClr val="32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21031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5C56A"/>
                </a:solidFill>
              </a:defRPr>
            </a:pPr>
            <a:r>
              <a:t>Pre-launch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24688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Zero paid marketing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4B4"/>
                </a:solidFill>
              </a:defRPr>
            </a:pPr>
            <a:r>
              <a:t>11/20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EA5E9"/>
                </a:solidFill>
              </a:defRPr>
            </a:pPr>
            <a:r>
              <a:t>We're Not Competing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We're creating the category.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No one else connects: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  • Homeowners + Contractors + Insurance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  • Real-time documentation + AI estimates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  • Mobile-first + Enterprise-grade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Everyone else is a point solution. We're the operating system.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4B4"/>
                </a:solidFill>
              </a:defRPr>
            </a:pPr>
            <a:r>
              <a:t>12/20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EA5E9"/>
                </a:solidFill>
              </a:defRPr>
            </a:pPr>
            <a:r>
              <a:t>Revenue Streams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SaaS Subscription: $99-499/mo per contractor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Marketplace Fee: 3% on completed jobs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Enterprise Licenses: Custom pricing for insurance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4B4"/>
                </a:solidFill>
              </a:defRPr>
            </a:pPr>
            <a:r>
              <a:t>13/20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$600B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EA5E9"/>
                </a:solidFill>
              </a:defRPr>
            </a:pPr>
            <a:r>
              <a:t>Total Addressable Market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EA5E9"/>
                </a:solidFill>
              </a:defRPr>
            </a:pPr>
            <a:r>
              <a:t>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Phase 1: Phoenix Launch → 100 contractors, local validation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Phase 2: Regional Expansion → Southwest US, 500 contractors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Phase 3: National Scale → All 50 states, enterprise 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4B4"/>
                </a:solidFill>
              </a:defRPr>
            </a:pPr>
            <a:r>
              <a:t>15/20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EA5E9"/>
                </a:solidFill>
              </a:defRPr>
            </a:pPr>
            <a:r>
              <a:t>Next 12 Months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→ Q1 2025: Phoenix launch, 100 contractors onboarded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→ Q2 2025: Mobile apps (iOS/Android), 500 contractors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→ Q3 2025: Insurance integrations, enterprise pilot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→ Q4 2025: Series A, national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4B4"/>
                </a:solidFill>
              </a:defRPr>
            </a:pPr>
            <a:r>
              <a:t>16/20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EA5E9"/>
                </a:solidFill>
              </a:defRPr>
            </a:pPr>
            <a:r>
              <a:t>Financial Projections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Year 1: $400K ARR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Year 2: $4.3M ARR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Year 3: $14.9M ARR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Year 4: $32M ARR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Year 5: $67.4M ARR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LTV:CAC = 5.2:1  •  Gross Margin = 78%  •  Payback = 8 months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4B4"/>
                </a:solidFill>
              </a:defRPr>
            </a:pPr>
            <a:r>
              <a:t>17/20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$750K Seed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EA5E9"/>
                </a:solidFill>
              </a:defRPr>
            </a:pPr>
            <a:r>
              <a:t>$300K Product · $250K Sales · $150K Marketing · $50K Legal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EA5E9"/>
                </a:solidFill>
              </a:defRPr>
            </a:pPr>
            <a:r>
              <a:t>Why Now?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✓ Climate change = more storms = more damage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✓ Insurance companies desperate for digital tools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✓ Post-COVID contractors need remote workflows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✓ AI makes intelligent estimates possible NOW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✓ Category creation window is open but closing fast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4B4"/>
                </a:solidFill>
              </a:defRPr>
            </a:pPr>
            <a:r>
              <a:t>19/20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"I survived the storm so I could build the system that ends it."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EA5E9"/>
                </a:solidFill>
              </a:defRPr>
            </a:pPr>
            <a:r>
              <a:t>— Damien Ray Willingham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5C56A"/>
                </a:solidFill>
              </a:defRPr>
            </a:pPr>
            <a:r>
              <a:t>damien@skaiscrape.com • SkaiScraper.com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